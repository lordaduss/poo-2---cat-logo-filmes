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Capa: nome do software, integrante, disciplina e universidade.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Breve descrição do sistema com ilustração da tela principal.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Padrão arquitetural MVC do projeto: View, Controller e Model.</a:t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Padrão arquitetural MVC e DAO do projeto, com a camada DAO isolando o acesso ao PostgreSQL.</a:t>
            </a:r>
            <a:endParaRPr/>
          </a:p>
        </p:txBody>
      </p:sp>
      <p:sp>
        <p:nvSpPr>
          <p:cNvPr id="41" name="Google Shape;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Descrição das funcionalidades do software: CRUD de Gêneros e Filmes, mais a validação de nota como funcionalidade extra.</a:t>
            </a:r>
            <a:endParaRPr/>
          </a:p>
        </p:txBody>
      </p:sp>
      <p:sp>
        <p:nvSpPr>
          <p:cNvPr id="48" name="Google Shape;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2712244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A84E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D8A84E"/>
                </a:solidFill>
                <a:latin typeface="Georgia"/>
                <a:ea typeface="Georgia"/>
                <a:cs typeface="Georgia"/>
                <a:sym typeface="Georgia"/>
              </a:rPr>
              <a:t>PROJETO DE </a:t>
            </a:r>
            <a:r>
              <a:rPr lang="en-US" sz="1300">
                <a:solidFill>
                  <a:srgbClr val="D8A84E"/>
                </a:solidFill>
                <a:latin typeface="Georgia"/>
                <a:ea typeface="Georgia"/>
                <a:cs typeface="Georgia"/>
                <a:sym typeface="Georgia"/>
              </a:rPr>
              <a:t>PROGRAMAÇÃO ORIENTADA A OBJETOS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3095724"/>
            <a:ext cx="10883392" cy="656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4600"/>
              <a:buFont typeface="Georgia"/>
              <a:buNone/>
            </a:pPr>
            <a:r>
              <a:rPr b="0" i="0" lang="en-US" sz="4600" u="none" cap="none" strike="noStrike">
                <a:solidFill>
                  <a:srgbClr val="F6F4EF"/>
                </a:solidFill>
                <a:latin typeface="Georgia"/>
                <a:ea typeface="Georgia"/>
                <a:cs typeface="Georgia"/>
                <a:sym typeface="Georgia"/>
              </a:rPr>
              <a:t>Catálogo de Filmes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3879056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6BD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C9C6BD"/>
                </a:solidFill>
                <a:latin typeface="Georgia"/>
                <a:ea typeface="Georgia"/>
                <a:cs typeface="Georgia"/>
                <a:sym typeface="Georgia"/>
              </a:rPr>
              <a:t>Aplicação JavaFX + PostgreSQL com os padrões MVC e DAO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800" y="6004620"/>
            <a:ext cx="18191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89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9890"/>
                </a:solidFill>
                <a:latin typeface="Arial"/>
                <a:ea typeface="Arial"/>
                <a:cs typeface="Arial"/>
                <a:sym typeface="Arial"/>
              </a:rPr>
              <a:t>Marcelo </a:t>
            </a:r>
            <a:r>
              <a:rPr lang="en-US" sz="1200">
                <a:solidFill>
                  <a:srgbClr val="9A9890"/>
                </a:solidFill>
              </a:rPr>
              <a:t>Pavani Lachowski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2800" y="6256040"/>
            <a:ext cx="1819156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6F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16F68"/>
                </a:solidFill>
              </a:rPr>
              <a:t>UNICENTRO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12800" y="2557363"/>
            <a:ext cx="65405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C1B18"/>
                </a:solidFill>
                <a:latin typeface="Georgia"/>
                <a:ea typeface="Georgia"/>
                <a:cs typeface="Georgia"/>
                <a:sym typeface="Georgia"/>
              </a:rPr>
              <a:t>Introdução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12800" y="3147913"/>
            <a:ext cx="6540500" cy="291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37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Sistema desktop para cadastrar e consultar filmes organizados por gênero.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12800" y="3566021"/>
            <a:ext cx="6540500" cy="55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37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Permite Criar, Consultar, Atualizar e Excluir registros de Gêneros e Filmes, com validação de</a:t>
            </a:r>
            <a:r>
              <a:rPr lang="en-US" sz="1350">
                <a:solidFill>
                  <a:srgbClr val="3A382F"/>
                </a:solidFill>
              </a:rPr>
              <a:t> campos </a:t>
            </a:r>
            <a:r>
              <a:rPr b="0" i="0" lang="en-US" sz="135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e proteção contra exclusão de gênero em uso.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9204350" y="5150315"/>
            <a:ext cx="15561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89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9890"/>
                </a:solidFill>
                <a:latin typeface="Arial"/>
                <a:ea typeface="Arial"/>
                <a:cs typeface="Arial"/>
                <a:sym typeface="Arial"/>
              </a:rPr>
              <a:t>Tela principal</a:t>
            </a:r>
            <a:endParaRPr sz="1100">
              <a:solidFill>
                <a:srgbClr val="9A9890"/>
              </a:solidFill>
            </a:endParaRPr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300" y="1707675"/>
            <a:ext cx="4533899" cy="3442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35450" y="462000"/>
            <a:ext cx="1088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32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887"/>
              <a:buFont typeface="Georgia"/>
              <a:buNone/>
            </a:pPr>
            <a:r>
              <a:rPr b="0" i="0" lang="en-US" sz="2887" u="none" cap="none" strike="noStrike">
                <a:solidFill>
                  <a:srgbClr val="1C1B18"/>
                </a:solidFill>
                <a:latin typeface="Georgia"/>
                <a:ea typeface="Georgia"/>
                <a:cs typeface="Georgia"/>
                <a:sym typeface="Georgia"/>
              </a:rPr>
              <a:t>Padrão MVC do Projeto</a:t>
            </a:r>
            <a:endParaRPr b="0" i="0" sz="28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 title="MVC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775" y="1317674"/>
            <a:ext cx="8878426" cy="48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835425" y="428050"/>
            <a:ext cx="1088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32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887"/>
              <a:buFont typeface="Georgia"/>
              <a:buNone/>
            </a:pPr>
            <a:r>
              <a:rPr b="0" i="0" lang="en-US" sz="2887" u="none" cap="none" strike="noStrike">
                <a:solidFill>
                  <a:srgbClr val="1C1B18"/>
                </a:solidFill>
                <a:latin typeface="Georgia"/>
                <a:ea typeface="Georgia"/>
                <a:cs typeface="Georgia"/>
                <a:sym typeface="Georgia"/>
              </a:rPr>
              <a:t>Padrão MVC + DAO</a:t>
            </a:r>
            <a:endParaRPr b="0" i="0" sz="28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6" title="MVCDA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513" y="1023550"/>
            <a:ext cx="5754975" cy="55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C1B18"/>
                </a:solidFill>
                <a:latin typeface="Georgia"/>
                <a:ea typeface="Georgia"/>
                <a:cs typeface="Georgia"/>
                <a:sym typeface="Georgia"/>
              </a:rPr>
              <a:t>Funcionalidades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815975" y="1508125"/>
            <a:ext cx="5149850" cy="1885752"/>
          </a:xfrm>
          <a:prstGeom prst="roundRect">
            <a:avLst>
              <a:gd fmla="val 5219" name="adj"/>
            </a:avLst>
          </a:prstGeom>
          <a:solidFill>
            <a:srgbClr val="FFFFFF"/>
          </a:solidFill>
          <a:ln cap="flat" cmpd="sng" w="9525">
            <a:solidFill>
              <a:srgbClr val="D8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1047750" y="1739900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4A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4A3F"/>
                </a:solidFill>
                <a:latin typeface="Arial"/>
                <a:ea typeface="Arial"/>
                <a:cs typeface="Arial"/>
                <a:sym typeface="Arial"/>
              </a:rPr>
              <a:t>Gêneros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1047750" y="2042120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Criar novo gênero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1047750" y="2344341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Consultar em tabela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1047750" y="2646561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Atualizar nome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1047750" y="2948781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6226175" y="1508125"/>
            <a:ext cx="5149850" cy="1885752"/>
          </a:xfrm>
          <a:prstGeom prst="roundRect">
            <a:avLst>
              <a:gd fmla="val 5219" name="adj"/>
            </a:avLst>
          </a:prstGeom>
          <a:solidFill>
            <a:srgbClr val="FFFFFF"/>
          </a:solidFill>
          <a:ln cap="flat" cmpd="sng" w="9525">
            <a:solidFill>
              <a:srgbClr val="D8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6457950" y="1739900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3B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A3B2B"/>
                </a:solidFill>
                <a:latin typeface="Arial"/>
                <a:ea typeface="Arial"/>
                <a:cs typeface="Arial"/>
                <a:sym typeface="Arial"/>
              </a:rPr>
              <a:t>Filmes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6457950" y="2042120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Criar, vinculando a um gênero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6457950" y="2344341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Consultar em tabela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6457950" y="2646561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Atualizar 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457950" y="2948781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82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A382F"/>
                </a:solidFill>
                <a:latin typeface="Arial"/>
                <a:ea typeface="Arial"/>
                <a:cs typeface="Arial"/>
                <a:sym typeface="Arial"/>
              </a:rPr>
              <a:t>Excluir filme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812800" y="3651052"/>
            <a:ext cx="10566400" cy="637480"/>
          </a:xfrm>
          <a:prstGeom prst="roundRect">
            <a:avLst>
              <a:gd fmla="val 15938" name="adj"/>
            </a:avLst>
          </a:prstGeom>
          <a:solidFill>
            <a:srgbClr val="D8A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1016000" y="3854252"/>
            <a:ext cx="183346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C1B18"/>
                </a:solidFill>
                <a:latin typeface="Arial"/>
                <a:ea typeface="Arial"/>
                <a:cs typeface="Arial"/>
                <a:sym typeface="Arial"/>
              </a:rPr>
              <a:t>Funcionalidades extra: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2849463" y="3854252"/>
            <a:ext cx="561677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C1B18"/>
                </a:solidFill>
              </a:rPr>
              <a:t>Validação de campos e alertas de erros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